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"/>
    <p:sldId id="257" r:id="rId3"/>
    <p:sldId id="258" r:id="rId4"/>
    <p:sldId id="272" r:id="rId5"/>
    <p:sldId id="260" r:id="rId6"/>
    <p:sldId id="261" r:id="rId7"/>
    <p:sldId id="262" r:id="rId8"/>
    <p:sldId id="274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11480" y="4069080"/>
            <a:ext cx="11780215" cy="1143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287117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59E0B"/>
                </a:solidFill>
              </a:defRPr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CORNERSTONE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PROJECT  ·  COP7001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1">
                <a:solidFill>
                  <a:srgbClr val="E2E8F0"/>
                </a:solidFill>
              </a:defRPr>
            </a:pPr>
            <a:r>
              <a:rPr kumimoji="0" sz="5400" b="1" i="0" u="none" strike="noStrike" kern="1200" cap="none" spc="0" normalizeH="0" baseline="0" noProof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Accelerated Mobile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1">
                <a:solidFill>
                  <a:srgbClr val="E2E8F0"/>
                </a:solidFill>
              </a:defRPr>
            </a:pPr>
            <a:r>
              <a:rPr kumimoji="0" sz="5400" b="1" i="0" u="none" strike="noStrike" kern="1200" cap="none" spc="0" normalizeH="0" baseline="0" noProof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Video Processing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434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2200" b="1">
                <a:solidFill>
                  <a:srgbClr val="E2E8F0"/>
                </a:solidFill>
              </a:defRPr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Salil Gujar   —   2025MCS2106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2200" b="1">
                <a:solidFill>
                  <a:srgbClr val="E2E8F0"/>
                </a:solidFill>
              </a:defRPr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Nitish Kumar   —   2025MCS2100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400" b="0">
                <a:solidFill>
                  <a:srgbClr val="E2E8F0"/>
                </a:solidFill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IIT Delhi   ·   April 2026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217A29-7D27-1FE3-56FF-9513C32A0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2228" y="1153337"/>
            <a:ext cx="2305372" cy="2219635"/>
          </a:xfrm>
          <a:prstGeom prst="rect">
            <a:avLst/>
          </a:prstGeom>
        </p:spPr>
      </p:pic>
      <p:pic>
        <p:nvPicPr>
          <p:cNvPr id="24" name="Audio 23">
            <a:hlinkClick r:id="" action="ppaction://media"/>
            <a:extLst>
              <a:ext uri="{FF2B5EF4-FFF2-40B4-BE49-F238E27FC236}">
                <a16:creationId xmlns:a16="http://schemas.microsoft.com/office/drawing/2014/main" id="{D7E63AFF-653B-CC80-71F3-C029A5837E3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043"/>
    </mc:Choice>
    <mc:Fallback>
      <p:transition spd="slow" advTm="210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228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228600"/>
            <a:ext cx="109728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E2E8F0"/>
                </a:solidFill>
              </a:defRPr>
            </a:pPr>
            <a:r>
              <a:t>Problem Statement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11201400" cy="507492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Phones expose three compute units: scalar cores, NEON SIMD, mobile GPU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Assignment asks to exploit all three with measurable acceleration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Approach split into five anchors: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2E8F0"/>
                </a:solidFill>
              </a:rPr>
              <a:t>        –  Live 30 FPS camera feed through the pipeline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2E8F0"/>
                </a:solidFill>
              </a:rPr>
              <a:t>        –  Four execution modes, user-switchable at runtime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2E8F0"/>
                </a:solidFill>
              </a:rPr>
              <a:t>        –  Speedup measured against scalar baseline, not assumed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2E8F0"/>
                </a:solidFill>
              </a:rPr>
              <a:t>        –  On-screen dashboard so behaviour stays observable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2E8F0"/>
                </a:solidFill>
              </a:rPr>
              <a:t>        –  Stable operation on a physical device, not an emulator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2E8F0"/>
                </a:solidFill>
              </a:defRPr>
            </a:pPr>
            <a:r>
              <a:t>Accelerated Mobile Video Processing  ·  COP7001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E2E8F0"/>
                </a:solidFill>
              </a:defRPr>
            </a:pPr>
            <a:r>
              <a:t>2 / 16</a:t>
            </a:r>
          </a:p>
        </p:txBody>
      </p:sp>
      <p:pic>
        <p:nvPicPr>
          <p:cNvPr id="26" name="Audio 25">
            <a:hlinkClick r:id="" action="ppaction://media"/>
            <a:extLst>
              <a:ext uri="{FF2B5EF4-FFF2-40B4-BE49-F238E27FC236}">
                <a16:creationId xmlns:a16="http://schemas.microsoft.com/office/drawing/2014/main" id="{47C44B78-DF1D-C43A-53E9-3837183D549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687"/>
    </mc:Choice>
    <mc:Fallback>
      <p:transition spd="slow" advTm="2668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228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228600"/>
            <a:ext cx="109728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E2E8F0"/>
                </a:solidFill>
              </a:defRPr>
            </a:pPr>
            <a:r>
              <a:t>Why Sobel Edge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11201400" cy="507492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3×3 local operation — fits SIMD lanes and GPU threadgroups cleanly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Deterministic scalar version serves as correctness oracle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Compute-heavy enough that Sobel actually dominates baseline frame time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Visual output makes mistakes obvious during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2E8F0"/>
                </a:solidFill>
              </a:defRPr>
            </a:pPr>
            <a:r>
              <a:t>Accelerated Mobile Video Processing  ·  COP7001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E2E8F0"/>
                </a:solidFill>
              </a:defRPr>
            </a:pPr>
            <a:r>
              <a:t>3 / 16</a:t>
            </a:r>
          </a:p>
        </p:txBody>
      </p:sp>
      <p:pic>
        <p:nvPicPr>
          <p:cNvPr id="39" name="Audio 38">
            <a:hlinkClick r:id="" action="ppaction://media"/>
            <a:extLst>
              <a:ext uri="{FF2B5EF4-FFF2-40B4-BE49-F238E27FC236}">
                <a16:creationId xmlns:a16="http://schemas.microsoft.com/office/drawing/2014/main" id="{86910748-7D68-3FAE-AD37-39E83BB2BE3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890"/>
    </mc:Choice>
    <mc:Fallback>
      <p:transition spd="slow" advTm="238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9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228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228600"/>
            <a:ext cx="109728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323569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 sz="2600" b="1">
                <a:solidFill>
                  <a:srgbClr val="E2E8F0"/>
                </a:solidFill>
              </a:defRPr>
            </a:pPr>
            <a:r>
              <a:rPr lang="en-IN" sz="2600" b="1" dirty="0"/>
              <a:t>System Block Diagram</a:t>
            </a:r>
            <a:endParaRPr kumimoji="0" sz="2600" b="1" i="0" u="none" strike="noStrike" kern="1200" cap="none" spc="0" normalizeH="0" baseline="0" noProof="0" dirty="0">
              <a:ln>
                <a:noFill/>
              </a:ln>
              <a:solidFill>
                <a:srgbClr val="E2E8F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3200400" y="0"/>
            <a:ext cx="182880" cy="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0"/>
            <a:ext cx="182880" cy="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80960" y="0"/>
            <a:ext cx="182880" cy="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3520440"/>
            <a:ext cx="0" cy="41148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520440"/>
            <a:ext cx="0" cy="41148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3520440"/>
            <a:ext cx="0" cy="41148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3520440"/>
            <a:ext cx="0" cy="41148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074920"/>
            <a:ext cx="0" cy="45720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5074920"/>
            <a:ext cx="0" cy="45720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0" y="5074920"/>
            <a:ext cx="0" cy="45720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0" y="5074920"/>
            <a:ext cx="0" cy="45720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7432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srgbClr val="94A3B8"/>
                </a:solidFill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Accelerated Mobile Video Processing  ·  COP7001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srgbClr val="94A3B8"/>
                </a:solidFill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 / 16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567CB5-5020-EE70-B74B-0DA1BB1A5C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8284" y="915530"/>
            <a:ext cx="7935432" cy="5553850"/>
          </a:xfrm>
          <a:prstGeom prst="rect">
            <a:avLst/>
          </a:prstGeom>
        </p:spPr>
      </p:pic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F07E4EBA-3E8B-0C1C-DD28-6283CEDD0F5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7483"/>
    </mc:Choice>
    <mc:Fallback>
      <p:transition spd="slow" advTm="4748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228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228600"/>
            <a:ext cx="109728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E2E8F0"/>
                </a:solidFill>
              </a:defRPr>
            </a:pPr>
            <a:r>
              <a:t>Phase 1 — Baseline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11201400" cy="507492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NDK + JNI toolchain, camera + storage permissions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Camera2 + ImageReader @ 30 FPS, YUV_420_888 on a background thread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BT.601 YUV → RGBA conversion in native C++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Scalar Sobel — nested loops, 3×3 kernels, clamp-to-edge border handling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SurfaceView output + first dashboard (mode, FPS, latency)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2E8F0"/>
                </a:solidFill>
              </a:defRPr>
            </a:pPr>
            <a:r>
              <a:t>Accelerated Mobile Video Processing  ·  COP7001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E2E8F0"/>
                </a:solidFill>
              </a:defRPr>
            </a:pPr>
            <a:r>
              <a:t>5 / 16</a:t>
            </a:r>
          </a:p>
        </p:txBody>
      </p:sp>
      <p:pic>
        <p:nvPicPr>
          <p:cNvPr id="12" name="Audio 11">
            <a:hlinkClick r:id="" action="ppaction://media"/>
            <a:extLst>
              <a:ext uri="{FF2B5EF4-FFF2-40B4-BE49-F238E27FC236}">
                <a16:creationId xmlns:a16="http://schemas.microsoft.com/office/drawing/2014/main" id="{D46B7228-21B3-7097-7275-CB160525572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8242"/>
    </mc:Choice>
    <mc:Fallback>
      <p:transition spd="slow" advTm="3824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228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228600"/>
            <a:ext cx="109728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E2E8F0"/>
                </a:solidFill>
              </a:defRPr>
            </a:pPr>
            <a:r>
              <a:t>Phase 2 — SIMD (ARM NEON)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11201400" cy="507492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NEON warm-up on a simpler op first → validates toolchain and layout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Sobel kernel processes 16 pixel positions per iteration (128-bit lanes)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Widen-accumulate-narrow pattern through NEON intrinsics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Correctness checked against scalar with ±1 tolerance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Runtime mode switching — baseline ↔ SIMD without app restart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2E8F0"/>
                </a:solidFill>
              </a:defRPr>
            </a:pPr>
            <a:r>
              <a:t>Accelerated Mobile Video Processing  ·  COP7001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E2E8F0"/>
                </a:solidFill>
              </a:defRPr>
            </a:pPr>
            <a:r>
              <a:t>6 / 16</a:t>
            </a:r>
          </a:p>
        </p:txBody>
      </p:sp>
      <p:pic>
        <p:nvPicPr>
          <p:cNvPr id="12" name="Audio 11">
            <a:hlinkClick r:id="" action="ppaction://media"/>
            <a:extLst>
              <a:ext uri="{FF2B5EF4-FFF2-40B4-BE49-F238E27FC236}">
                <a16:creationId xmlns:a16="http://schemas.microsoft.com/office/drawing/2014/main" id="{BD16C122-11A9-36F7-1ABF-43F839240DA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9777"/>
    </mc:Choice>
    <mc:Fallback>
      <p:transition spd="slow" advTm="3977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228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228600"/>
            <a:ext cx="109728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E2E8F0"/>
                </a:solidFill>
              </a:defRPr>
            </a:pPr>
            <a:r>
              <a:t>Phase 3 — GPU Compute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11201400" cy="507492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Headless EGL context so compute runs without on-screen rendering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Compute shader — one invocation per output pixel, reads 3×3 neighbourhood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Texture-based input path for better cache behaviour than raw SSBO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Workgroup configurations benchmarked per device, fastest latched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Correctness verified against scalar with ±2 tolerance (float arithmetic)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Lesson: GPU is not automatically faster than SIMD for a small local filter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2E8F0"/>
                </a:solidFill>
              </a:defRPr>
            </a:pPr>
            <a:r>
              <a:t>Accelerated Mobile Video Processing  ·  COP7001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E2E8F0"/>
                </a:solidFill>
              </a:defRPr>
            </a:pPr>
            <a:r>
              <a:t>7 / 16</a:t>
            </a:r>
          </a:p>
        </p:txBody>
      </p:sp>
      <p:pic>
        <p:nvPicPr>
          <p:cNvPr id="25" name="Audio 24">
            <a:hlinkClick r:id="" action="ppaction://media"/>
            <a:extLst>
              <a:ext uri="{FF2B5EF4-FFF2-40B4-BE49-F238E27FC236}">
                <a16:creationId xmlns:a16="http://schemas.microsoft.com/office/drawing/2014/main" id="{1FF9B5EC-DC26-6FD1-B232-1FAA7A3C477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3187"/>
    </mc:Choice>
    <mc:Fallback>
      <p:transition spd="slow" advTm="4318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228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228600"/>
            <a:ext cx="109728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1">
                <a:solidFill>
                  <a:srgbClr val="E2E8F0"/>
                </a:solidFill>
              </a:defRPr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Hybrid Mode + Adaptive Split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3302655" cy="1997049"/>
          </a:xfrm>
          <a:prstGeom prst="rect">
            <a:avLst/>
          </a:prstGeom>
          <a:solidFill>
            <a:srgbClr val="3B82F6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E2E8F0"/>
                </a:solidFill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CPU  —  ARM NEON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>
                <a:solidFill>
                  <a:srgbClr val="E2E8F0"/>
                </a:solidFill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top rows  ·  16 px / iter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414369"/>
            <a:ext cx="3302655" cy="2757831"/>
          </a:xfrm>
          <a:prstGeom prst="rect">
            <a:avLst/>
          </a:prstGeom>
          <a:solidFill>
            <a:srgbClr val="10B981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E2E8F0"/>
                </a:solidFill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GPU  —  Compute Shader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>
                <a:solidFill>
                  <a:srgbClr val="E2E8F0"/>
                </a:solidFill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bottom rows  ·  concurrent dispatch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404843"/>
            <a:ext cx="3302655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Isosceles Triangle 9"/>
          <p:cNvSpPr/>
          <p:nvPr/>
        </p:nvSpPr>
        <p:spPr>
          <a:xfrm rot="16200000">
            <a:off x="3933591" y="3305023"/>
            <a:ext cx="237744" cy="237744"/>
          </a:xfrm>
          <a:prstGeom prst="triangl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43067" y="3233319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i="1">
                <a:solidFill>
                  <a:srgbClr val="F59E0B"/>
                </a:solidFill>
              </a:defRPr>
            </a:pPr>
            <a:r>
              <a:rPr kumimoji="0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g_hybridMidRow</a:t>
            </a:r>
            <a:endParaRPr kumimoji="0" sz="1200" b="0" i="1" u="none" strike="noStrike" kern="1200" cap="none" spc="0" normalizeH="0" baseline="0" noProof="0" dirty="0">
              <a:ln>
                <a:noFill/>
              </a:ln>
              <a:solidFill>
                <a:srgbClr val="F59E0B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E2E8F0"/>
                </a:solidFill>
              </a:defRPr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EMA-controlled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1417320"/>
            <a:ext cx="6400800" cy="475488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880427" y="1750110"/>
            <a:ext cx="5212080" cy="3272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● 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Frame split horizontally — CPU + GPU fire in parallel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● 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CPU thread: NEON Sobel on top rows (16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px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/iter)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● 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GPU shader: concurrent dispatch on bottom rows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● 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EMA tracks per-row cost (α = 0.1, spiked α = 0.25)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● 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Split rebalances each frame so both halves finish together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● 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Clamped to 10–90% — prevents degenerate single-device splits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● 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Thermal-aware: trims GPU share above 40.5 °C / 43 °C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● 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Measured ~8.9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ms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@ 720p  ·  ~15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ms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@ 1080p  —  sync cost keeps it just behind NEON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srgbClr val="E2E8F0"/>
                </a:solidFill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Accelerated Mobile Video Processing  ·  COP7001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srgbClr val="E2E8F0"/>
                </a:solidFill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8 / 16</a:t>
            </a:r>
          </a:p>
        </p:txBody>
      </p:sp>
      <p:pic>
        <p:nvPicPr>
          <p:cNvPr id="17" name="Audio 16">
            <a:hlinkClick r:id="" action="ppaction://media"/>
            <a:extLst>
              <a:ext uri="{FF2B5EF4-FFF2-40B4-BE49-F238E27FC236}">
                <a16:creationId xmlns:a16="http://schemas.microsoft.com/office/drawing/2014/main" id="{2F8CBB03-5343-1EC8-8F34-E03E6D6EAD2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172"/>
    </mc:Choice>
    <mc:Fallback>
      <p:transition spd="slow" advTm="5017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228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228600"/>
            <a:ext cx="109728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E2E8F0"/>
                </a:solidFill>
              </a:defRPr>
            </a:pPr>
            <a:r>
              <a:t>Runtime Mode &amp; Resolution Switching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11201400" cy="507492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Mode switch affects the dispatcher only — camera stays up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Resolution switch is heavier — Camera2 has to rebuild the session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Careless switching caused stale callbacks and camera-session races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Guarded transitions: drop stale frames, reset measurement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2E8F0"/>
                </a:solidFill>
              </a:defRPr>
            </a:pPr>
            <a:r>
              <a:t>Accelerated Mobile Video Processing  ·  COP7001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E2E8F0"/>
                </a:solidFill>
              </a:defRPr>
            </a:pPr>
            <a:r>
              <a:t>9 / 16</a:t>
            </a:r>
          </a:p>
        </p:txBody>
      </p:sp>
      <p:pic>
        <p:nvPicPr>
          <p:cNvPr id="12" name="Audio 11">
            <a:hlinkClick r:id="" action="ppaction://media"/>
            <a:extLst>
              <a:ext uri="{FF2B5EF4-FFF2-40B4-BE49-F238E27FC236}">
                <a16:creationId xmlns:a16="http://schemas.microsoft.com/office/drawing/2014/main" id="{02C3372E-33F0-2B1A-61B1-011363A94BD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453"/>
    </mc:Choice>
    <mc:Fallback>
      <p:transition spd="slow" advTm="264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228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228600"/>
            <a:ext cx="109728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E2E8F0"/>
                </a:solidFill>
              </a:defRPr>
            </a:pPr>
            <a:r>
              <a:t>Live Performance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11201400" cy="507492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Mode  ·  FPS  ·  per-stage latency  ·  end-to-end latency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SIMD and GPU activity indicators light only when those paths run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Hybrid split ratio surfaced while hybrid mode is active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Speedup stabilised via per-mode averages + warm-up exclusion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Dashboard treated as a core deliverable, not an afterthought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2E8F0"/>
                </a:solidFill>
              </a:defRPr>
            </a:pPr>
            <a:r>
              <a:t>Accelerated Mobile Video Processing  ·  COP7001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E2E8F0"/>
                </a:solidFill>
              </a:defRPr>
            </a:pPr>
            <a:r>
              <a:t>10 / 16</a:t>
            </a:r>
          </a:p>
        </p:txBody>
      </p:sp>
      <p:pic>
        <p:nvPicPr>
          <p:cNvPr id="20" name="Audio 19">
            <a:hlinkClick r:id="" action="ppaction://media"/>
            <a:extLst>
              <a:ext uri="{FF2B5EF4-FFF2-40B4-BE49-F238E27FC236}">
                <a16:creationId xmlns:a16="http://schemas.microsoft.com/office/drawing/2014/main" id="{17407859-60F7-58F9-C39E-54686B30935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979"/>
    </mc:Choice>
    <mc:Fallback>
      <p:transition spd="slow" advTm="269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228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228600"/>
            <a:ext cx="109728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E2E8F0"/>
                </a:solidFill>
              </a:defRPr>
            </a:pPr>
            <a:r>
              <a:t>Correctness Methodology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11201400" cy="507492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Every accelerated mode diffed per-pixel against scalar baseline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NEON tolerance ±1 — integer rounding in vector ops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GPU tolerance ±2 — floating-point rounding in the shader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Rule: if a mode fails verification, its speedup is not reported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2E8F0"/>
                </a:solidFill>
              </a:defRPr>
            </a:pPr>
            <a:r>
              <a:t>Accelerated Mobile Video Processing  ·  COP7001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E2E8F0"/>
                </a:solidFill>
              </a:defRPr>
            </a:pPr>
            <a:r>
              <a:t>11 / 16</a:t>
            </a:r>
          </a:p>
        </p:txBody>
      </p:sp>
      <p:pic>
        <p:nvPicPr>
          <p:cNvPr id="19" name="Audio 18">
            <a:hlinkClick r:id="" action="ppaction://media"/>
            <a:extLst>
              <a:ext uri="{FF2B5EF4-FFF2-40B4-BE49-F238E27FC236}">
                <a16:creationId xmlns:a16="http://schemas.microsoft.com/office/drawing/2014/main" id="{E5A7B86C-6B44-DC5E-CFD9-106DDC4B4E5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743"/>
    </mc:Choice>
    <mc:Fallback>
      <p:transition spd="slow" advTm="237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228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228600"/>
            <a:ext cx="109728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E2E8F0"/>
                </a:solidFill>
              </a:defRPr>
            </a:pPr>
            <a:r>
              <a:t>Results  ·  Quantitative Table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0020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59E0B"/>
                          </a:solidFill>
                        </a:rPr>
                        <a:t>Mode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59E0B"/>
                          </a:solidFill>
                        </a:rPr>
                        <a:t>720p Sobel (ms)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59E0B"/>
                          </a:solidFill>
                        </a:rPr>
                        <a:t>1080p Sobel (ms)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59E0B"/>
                          </a:solidFill>
                        </a:rPr>
                        <a:t>720p FPS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59E0B"/>
                          </a:solidFill>
                        </a:rPr>
                        <a:t>1080p FPS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E2E8F0"/>
                          </a:solidFill>
                        </a:rPr>
                        <a:t>Scalar Baseline</a:t>
                      </a:r>
                    </a:p>
                  </a:txBody>
                  <a:tcPr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E2E8F0"/>
                          </a:solidFill>
                        </a:rPr>
                        <a:t>~41.8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E2E8F0"/>
                          </a:solidFill>
                        </a:rPr>
                        <a:t>~92.5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E2E8F0"/>
                          </a:solidFill>
                        </a:rPr>
                        <a:t>~18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E2E8F0"/>
                          </a:solidFill>
                        </a:rPr>
                        <a:t>~8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E2E8F0"/>
                          </a:solidFill>
                        </a:rPr>
                        <a:t>SIMD (NEON)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E2E8F0"/>
                          </a:solidFill>
                        </a:rPr>
                        <a:t>~6.9</a:t>
                      </a:r>
                      <a:r>
                        <a:rPr sz="1100" i="1">
                          <a:solidFill>
                            <a:srgbClr val="E2E8F0"/>
                          </a:solidFill>
                        </a:rPr>
                        <a:t>   ~6.0×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E2E8F0"/>
                          </a:solidFill>
                        </a:rPr>
                        <a:t>~13.7</a:t>
                      </a:r>
                      <a:r>
                        <a:rPr sz="1100" i="1">
                          <a:solidFill>
                            <a:srgbClr val="E2E8F0"/>
                          </a:solidFill>
                        </a:rPr>
                        <a:t>   ~6.8×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E2E8F0"/>
                          </a:solidFill>
                        </a:rPr>
                        <a:t>~30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E2E8F0"/>
                          </a:solidFill>
                        </a:rPr>
                        <a:t>~24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E2E8F0"/>
                          </a:solidFill>
                        </a:rPr>
                        <a:t>GPU Compute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E2E8F0"/>
                          </a:solidFill>
                        </a:rPr>
                        <a:t>~7.7</a:t>
                      </a:r>
                      <a:r>
                        <a:rPr sz="1100" i="1">
                          <a:solidFill>
                            <a:srgbClr val="E2E8F0"/>
                          </a:solidFill>
                        </a:rPr>
                        <a:t>   ~5.4×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E2E8F0"/>
                          </a:solidFill>
                        </a:rPr>
                        <a:t>~14.7</a:t>
                      </a:r>
                      <a:r>
                        <a:rPr sz="1100" i="1">
                          <a:solidFill>
                            <a:srgbClr val="E2E8F0"/>
                          </a:solidFill>
                        </a:rPr>
                        <a:t>   ~6.3×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E2E8F0"/>
                          </a:solidFill>
                        </a:rPr>
                        <a:t>~30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E2E8F0"/>
                          </a:solidFill>
                        </a:rPr>
                        <a:t>~24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E2E8F0"/>
                          </a:solidFill>
                        </a:rPr>
                        <a:t>Hybrid NEON+GPU</a:t>
                      </a:r>
                    </a:p>
                  </a:txBody>
                  <a:tcPr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E2E8F0"/>
                          </a:solidFill>
                        </a:rPr>
                        <a:t>~8.9</a:t>
                      </a:r>
                      <a:r>
                        <a:rPr sz="1100" i="1">
                          <a:solidFill>
                            <a:srgbClr val="E2E8F0"/>
                          </a:solidFill>
                        </a:rPr>
                        <a:t>   ~4.7×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E2E8F0"/>
                          </a:solidFill>
                        </a:rPr>
                        <a:t>~15.0</a:t>
                      </a:r>
                      <a:r>
                        <a:rPr sz="1100" i="1">
                          <a:solidFill>
                            <a:srgbClr val="E2E8F0"/>
                          </a:solidFill>
                        </a:rPr>
                        <a:t>   ~6.2×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E2E8F0"/>
                          </a:solidFill>
                        </a:rPr>
                        <a:t>~30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E2E8F0"/>
                          </a:solidFill>
                        </a:rPr>
                        <a:t>~23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2E8F0"/>
                </a:solidFill>
              </a:defRPr>
            </a:pPr>
            <a:r>
              <a:t>Accelerated Mobile Video Processing  ·  COP7001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E2E8F0"/>
                </a:solidFill>
              </a:defRPr>
            </a:pPr>
            <a:r>
              <a:t>12 / 16</a:t>
            </a:r>
          </a:p>
        </p:txBody>
      </p:sp>
      <p:pic>
        <p:nvPicPr>
          <p:cNvPr id="35" name="Audio 34">
            <a:hlinkClick r:id="" action="ppaction://media"/>
            <a:extLst>
              <a:ext uri="{FF2B5EF4-FFF2-40B4-BE49-F238E27FC236}">
                <a16:creationId xmlns:a16="http://schemas.microsoft.com/office/drawing/2014/main" id="{01A104DD-97AA-C9CF-7BB0-A92761FB787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4478"/>
    </mc:Choice>
    <mc:Fallback>
      <p:transition spd="slow" advTm="344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5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228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228600"/>
            <a:ext cx="109728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E2E8F0"/>
                </a:solidFill>
              </a:defRPr>
            </a:pPr>
            <a:r>
              <a:t>Results  ·  Latency &amp; Frame Stability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11201400" cy="507492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720p  ·  baseline ~18 FPS  ·  SIMD / GPU / Hybrid reach ~30 FPS (camera cap)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1080p  ·  baseline drops to ~8 FPS  ·  accelerated modes stay interactive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Baseline: Sobel dominates frame time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GPU: upload + readback dominate total latency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SIMD is the fastest pure-Sobel path on the tested device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2E8F0"/>
                </a:solidFill>
              </a:defRPr>
            </a:pPr>
            <a:r>
              <a:t>Accelerated Mobile Video Processing  ·  COP7001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E2E8F0"/>
                </a:solidFill>
              </a:defRPr>
            </a:pPr>
            <a:r>
              <a:t>13 / 16</a:t>
            </a:r>
          </a:p>
        </p:txBody>
      </p:sp>
      <p:pic>
        <p:nvPicPr>
          <p:cNvPr id="12" name="Audio 11">
            <a:hlinkClick r:id="" action="ppaction://media"/>
            <a:extLst>
              <a:ext uri="{FF2B5EF4-FFF2-40B4-BE49-F238E27FC236}">
                <a16:creationId xmlns:a16="http://schemas.microsoft.com/office/drawing/2014/main" id="{09248D82-BC9D-C54B-FCD7-33B6C571621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855"/>
    </mc:Choice>
    <mc:Fallback>
      <p:transition spd="slow" advTm="328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228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228600"/>
            <a:ext cx="109728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E2E8F0"/>
                </a:solidFill>
              </a:defRPr>
            </a:pPr>
            <a:r>
              <a:t>SIMD &amp; GPU Utilization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11201400" cy="507492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SIMD indicator lit in NEON and hybrid modes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GPU indicator lit in GPU and hybrid modes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Hybrid: both indicators lit with a live split ratio on the dashboard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For a small local filter like Sobel, GPU ≠ automatically faster than SIMD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2E8F0"/>
                </a:solidFill>
              </a:defRPr>
            </a:pPr>
            <a:r>
              <a:t>Accelerated Mobile Video Processing  ·  COP7001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E2E8F0"/>
                </a:solidFill>
              </a:defRPr>
            </a:pPr>
            <a:r>
              <a:t>14 / 16</a:t>
            </a:r>
          </a:p>
        </p:txBody>
      </p:sp>
      <p:pic>
        <p:nvPicPr>
          <p:cNvPr id="12" name="Audio 11">
            <a:hlinkClick r:id="" action="ppaction://media"/>
            <a:extLst>
              <a:ext uri="{FF2B5EF4-FFF2-40B4-BE49-F238E27FC236}">
                <a16:creationId xmlns:a16="http://schemas.microsoft.com/office/drawing/2014/main" id="{5A1D26D7-5892-9D48-E6D0-9625B004BD9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971"/>
    </mc:Choice>
    <mc:Fallback>
      <p:transition spd="slow" advTm="249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228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228600"/>
            <a:ext cx="109728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E2E8F0"/>
                </a:solidFill>
              </a:defRPr>
            </a:pPr>
            <a:r>
              <a:t>Engineering Lessons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11201400" cy="507492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Multiple compute units (scalar, SIMD, GPU) can meaningfully cooperate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Acceleration must be evaluated in system context, not in isolation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Correctness against the scalar baseline is non-negotiable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Hybrid heterogeneous execution is practical, not just a theoretical idea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</a:rPr>
              <a:t>●  </a:t>
            </a:r>
            <a:r>
              <a:rPr sz="2200">
                <a:solidFill>
                  <a:srgbClr val="E2E8F0"/>
                </a:solidFill>
              </a:rPr>
              <a:t>Observability is what makes the performance story honest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2E8F0"/>
                </a:solidFill>
              </a:defRPr>
            </a:pPr>
            <a:r>
              <a:t>Accelerated Mobile Video Processing  ·  COP7001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E2E8F0"/>
                </a:solidFill>
              </a:defRPr>
            </a:pPr>
            <a:r>
              <a:t>15 / 16</a:t>
            </a:r>
          </a:p>
        </p:txBody>
      </p:sp>
      <p:pic>
        <p:nvPicPr>
          <p:cNvPr id="12" name="Audio 11">
            <a:hlinkClick r:id="" action="ppaction://media"/>
            <a:extLst>
              <a:ext uri="{FF2B5EF4-FFF2-40B4-BE49-F238E27FC236}">
                <a16:creationId xmlns:a16="http://schemas.microsoft.com/office/drawing/2014/main" id="{5B21CCF1-92F4-3639-BCF3-5741FCD6AFF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431"/>
    </mc:Choice>
    <mc:Fallback>
      <p:transition spd="slow" advTm="324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560320"/>
            <a:ext cx="1178021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E2E8F0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2E8F0"/>
                </a:solidFill>
              </a:defRPr>
            </a:pPr>
            <a:r>
              <a:rPr dirty="0"/>
              <a:t>Accelerated Mobile Video Processing  ·  COP7001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E2E8F0"/>
                </a:solidFill>
              </a:defRPr>
            </a:pPr>
            <a:r>
              <a:t>16 / 16</a:t>
            </a:r>
          </a:p>
        </p:txBody>
      </p:sp>
      <p:pic>
        <p:nvPicPr>
          <p:cNvPr id="35" name="Audio 34">
            <a:hlinkClick r:id="" action="ppaction://media"/>
            <a:extLst>
              <a:ext uri="{FF2B5EF4-FFF2-40B4-BE49-F238E27FC236}">
                <a16:creationId xmlns:a16="http://schemas.microsoft.com/office/drawing/2014/main" id="{CF490F81-4364-BC28-5D6F-3945171CC62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87"/>
    </mc:Choice>
    <mc:Fallback>
      <p:transition spd="slow" advTm="298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1033</Words>
  <Application>Microsoft Office PowerPoint</Application>
  <PresentationFormat>Widescreen</PresentationFormat>
  <Paragraphs>145</Paragraphs>
  <Slides>16</Slides>
  <Notes>0</Notes>
  <HiddenSlides>0</HiddenSlides>
  <MMClips>16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salil gujar</dc:creator>
  <cp:keywords/>
  <dc:description>generated using python-pptx</dc:description>
  <cp:lastModifiedBy>Salil Sanjay Gujar</cp:lastModifiedBy>
  <cp:revision>6</cp:revision>
  <dcterms:created xsi:type="dcterms:W3CDTF">2013-01-27T09:14:16Z</dcterms:created>
  <dcterms:modified xsi:type="dcterms:W3CDTF">2026-04-19T17:07:26Z</dcterms:modified>
  <cp:category/>
</cp:coreProperties>
</file>