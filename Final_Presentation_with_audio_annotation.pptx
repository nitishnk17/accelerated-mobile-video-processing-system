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57" r:id="rId3"/>
    <p:sldId id="258" r:id="rId4"/>
    <p:sldId id="272" r:id="rId5"/>
    <p:sldId id="260" r:id="rId6"/>
    <p:sldId id="261" r:id="rId7"/>
    <p:sldId id="262" r:id="rId8"/>
    <p:sldId id="274" r:id="rId9"/>
    <p:sldId id="264" r:id="rId10"/>
    <p:sldId id="265" r:id="rId11"/>
    <p:sldId id="266" r:id="rId12"/>
    <p:sldId id="267" r:id="rId13"/>
    <p:sldId id="276" r:id="rId14"/>
    <p:sldId id="268" r:id="rId15"/>
    <p:sldId id="269" r:id="rId16"/>
    <p:sldId id="270" r:id="rId17"/>
    <p:sldId id="256" r:id="rId18"/>
    <p:sldId id="277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3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eg"/><Relationship Id="rId2" Type="http://schemas.openxmlformats.org/officeDocument/2006/relationships/audio" Target="../media/media13.m4a"/><Relationship Id="rId1" Type="http://schemas.microsoft.com/office/2007/relationships/media" Target="../media/media13.m4a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4.m4a"/><Relationship Id="rId1" Type="http://schemas.microsoft.com/office/2007/relationships/media" Target="../media/media14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5.m4a"/><Relationship Id="rId1" Type="http://schemas.microsoft.com/office/2007/relationships/media" Target="../media/media15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6.m4a"/><Relationship Id="rId1" Type="http://schemas.microsoft.com/office/2007/relationships/media" Target="../media/media16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7.m4a"/><Relationship Id="rId1" Type="http://schemas.microsoft.com/office/2007/relationships/media" Target="../media/media17.m4a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8.m4a"/><Relationship Id="rId1" Type="http://schemas.microsoft.com/office/2007/relationships/media" Target="../media/media18.m4a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9.m4a"/><Relationship Id="rId1" Type="http://schemas.microsoft.com/office/2007/relationships/media" Target="../media/media19.m4a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11480" y="4069080"/>
            <a:ext cx="11780215" cy="1143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28711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F59E0B"/>
                </a:solidFill>
              </a:defRPr>
            </a:pPr>
            <a:r>
              <a:rPr kumimoji="0" lang="en-IN" sz="14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CORNERSTONE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PROJECT  ·  COP7001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1">
                <a:solidFill>
                  <a:srgbClr val="E2E8F0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Accelerated Mobile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1">
                <a:solidFill>
                  <a:srgbClr val="E2E8F0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Video Processing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 sz="2200" b="1">
                <a:solidFill>
                  <a:srgbClr val="E2E8F0"/>
                </a:solidFill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Salil Gujar   —   2025MCS2106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 sz="2200" b="1">
                <a:solidFill>
                  <a:srgbClr val="E2E8F0"/>
                </a:solidFill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Nitish Kumar   —   2025MCS2100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 sz="1400" b="0">
                <a:solidFill>
                  <a:srgbClr val="E2E8F0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IIT Delhi   ·   April 2026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217A29-7D27-1FE3-56FF-9513C32A0D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228" y="1153337"/>
            <a:ext cx="2305372" cy="2219635"/>
          </a:xfrm>
          <a:prstGeom prst="rect">
            <a:avLst/>
          </a:prstGeom>
        </p:spPr>
      </p:pic>
      <p:pic>
        <p:nvPicPr>
          <p:cNvPr id="24" name="Audio 23">
            <a:hlinkClick r:id="" action="ppaction://media"/>
            <a:extLst>
              <a:ext uri="{FF2B5EF4-FFF2-40B4-BE49-F238E27FC236}">
                <a16:creationId xmlns:a16="http://schemas.microsoft.com/office/drawing/2014/main" id="{D7E63AFF-653B-CC80-71F3-C029A5837E3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043"/>
    </mc:Choice>
    <mc:Fallback xmlns="">
      <p:transition spd="slow" advTm="2104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Phones expose three compute units: scalar cores, NEON SIMD, mobile GPU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Assignment asks to exploit all three with measurable acceleration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Approach split into five anchors: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2E8F0"/>
                </a:solidFill>
              </a:rPr>
              <a:t>        –  Live 30 FPS camera feed through the pipeline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2E8F0"/>
                </a:solidFill>
              </a:rPr>
              <a:t>        –  Four execution modes, user-switchable at runtime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2E8F0"/>
                </a:solidFill>
              </a:rPr>
              <a:t>        –  Speedup measured against scalar baseline, not assumed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2E8F0"/>
                </a:solidFill>
              </a:rPr>
              <a:t>        –  On-screen dashboard so behaviour stays observable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2E8F0"/>
                </a:solidFill>
              </a:rPr>
              <a:t>        –  Stable operation on a physical device, not an emulator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2 / 16</a:t>
            </a:r>
          </a:p>
        </p:txBody>
      </p:sp>
      <p:pic>
        <p:nvPicPr>
          <p:cNvPr id="26" name="Audio 25">
            <a:hlinkClick r:id="" action="ppaction://media"/>
            <a:extLst>
              <a:ext uri="{FF2B5EF4-FFF2-40B4-BE49-F238E27FC236}">
                <a16:creationId xmlns:a16="http://schemas.microsoft.com/office/drawing/2014/main" id="{47C44B78-DF1D-C43A-53E9-3837183D549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1A7E1B-B699-6889-0BE6-FF8ABABE3F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F085256-8BE3-9089-EF59-658F89757D07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687"/>
    </mc:Choice>
    <mc:Fallback xmlns="">
      <p:transition spd="slow" advTm="266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Why Sobel Edge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3×3 local operation — fits SIMD lanes and GPU threadgroups cleanly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Deterministic scalar version serves as correctness oracle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Compute-heavy enough that Sobel actually dominates baseline frame time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Visual output makes mistakes obvious during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3 / 16</a:t>
            </a:r>
          </a:p>
        </p:txBody>
      </p:sp>
      <p:pic>
        <p:nvPicPr>
          <p:cNvPr id="39" name="Audio 38">
            <a:hlinkClick r:id="" action="ppaction://media"/>
            <a:extLst>
              <a:ext uri="{FF2B5EF4-FFF2-40B4-BE49-F238E27FC236}">
                <a16:creationId xmlns:a16="http://schemas.microsoft.com/office/drawing/2014/main" id="{86910748-7D68-3FAE-AD37-39E83BB2BE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F04CC2-AD22-AD8B-A27C-CD8B7318B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2CABD12-DE62-F88D-64B2-84A4BFE9E982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890"/>
    </mc:Choice>
    <mc:Fallback xmlns="">
      <p:transition spd="slow" advTm="2389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323569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 sz="2600" b="1">
                <a:solidFill>
                  <a:srgbClr val="E2E8F0"/>
                </a:solidFill>
              </a:defRPr>
            </a:pPr>
            <a:r>
              <a:rPr lang="en-IN" sz="2600" b="1" dirty="0"/>
              <a:t>System Block Diagram</a:t>
            </a:r>
            <a:endParaRPr kumimoji="0" sz="2600" b="1" i="0" u="none" strike="noStrike" kern="1200" cap="none" spc="0" normalizeH="0" baseline="0" noProof="0" dirty="0">
              <a:ln>
                <a:noFill/>
              </a:ln>
              <a:solidFill>
                <a:srgbClr val="E2E8F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0"/>
            <a:ext cx="182880" cy="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0" y="0"/>
            <a:ext cx="182880" cy="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80960" y="0"/>
            <a:ext cx="182880" cy="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0" y="3520440"/>
            <a:ext cx="0" cy="41148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0" y="3520440"/>
            <a:ext cx="0" cy="41148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3520440"/>
            <a:ext cx="0" cy="41148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3520440"/>
            <a:ext cx="0" cy="41148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74920"/>
            <a:ext cx="0" cy="4572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5074920"/>
            <a:ext cx="0" cy="4572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0" y="5074920"/>
            <a:ext cx="0" cy="4572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0" y="5074920"/>
            <a:ext cx="0" cy="4572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94A3B8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Accelerated Mobile Video Processing  ·  COP7001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94A3B8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 / 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567CB5-5020-EE70-B74B-0DA1BB1A5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8284" y="915530"/>
            <a:ext cx="7935432" cy="5553850"/>
          </a:xfrm>
          <a:prstGeom prst="rect">
            <a:avLst/>
          </a:prstGeom>
        </p:spPr>
      </p:pic>
      <p:pic>
        <p:nvPicPr>
          <p:cNvPr id="9" name="Audio 8">
            <a:hlinkClick r:id="" action="ppaction://media"/>
            <a:extLst>
              <a:ext uri="{FF2B5EF4-FFF2-40B4-BE49-F238E27FC236}">
                <a16:creationId xmlns:a16="http://schemas.microsoft.com/office/drawing/2014/main" id="{F07E4EBA-3E8B-0C1C-DD28-6283CEDD0F5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930454-53C7-4807-B1D3-A27280D8FF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330B29-868B-4F73-F56B-6830FFA747D6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483"/>
    </mc:Choice>
    <mc:Fallback xmlns="">
      <p:transition spd="slow" advTm="4748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Phase 1 — Baseline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NDK + JNI toolchain, camera + storage permissions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Camera2 + ImageReader @ 30 FPS, YUV_420_888 on a background thread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BT.601 YUV → RGBA conversion in native C++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Scalar Sobel — nested loops, 3×3 kernels, clamp-to-edge border handling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SurfaceView output + first dashboard (mode, FPS, latency)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5 / 16</a:t>
            </a:r>
          </a:p>
        </p:txBody>
      </p:sp>
      <p:pic>
        <p:nvPicPr>
          <p:cNvPr id="12" name="Audio 11">
            <a:hlinkClick r:id="" action="ppaction://media"/>
            <a:extLst>
              <a:ext uri="{FF2B5EF4-FFF2-40B4-BE49-F238E27FC236}">
                <a16:creationId xmlns:a16="http://schemas.microsoft.com/office/drawing/2014/main" id="{D46B7228-21B3-7097-7275-CB160525572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B21104-C8CD-8B64-5F84-710F44869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802FB10-10B7-9979-1DAB-587731D8CA69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242"/>
    </mc:Choice>
    <mc:Fallback xmlns="">
      <p:transition spd="slow" advTm="3824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Phase 2 — SIMD (ARM NEON)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NEON warm-up on a simpler op first → validates toolchain and layout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Sobel kernel processes 16 pixel positions per iteration (128-bit lanes)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Widen-accumulate-narrow pattern through NEON intrinsics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Correctness checked against scalar with ±1 tolerance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Runtime mode switching — baseline ↔ SIMD without app restart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6 / 16</a:t>
            </a:r>
          </a:p>
        </p:txBody>
      </p:sp>
      <p:pic>
        <p:nvPicPr>
          <p:cNvPr id="12" name="Audio 11">
            <a:hlinkClick r:id="" action="ppaction://media"/>
            <a:extLst>
              <a:ext uri="{FF2B5EF4-FFF2-40B4-BE49-F238E27FC236}">
                <a16:creationId xmlns:a16="http://schemas.microsoft.com/office/drawing/2014/main" id="{BD16C122-11A9-36F7-1ABF-43F839240DA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F2CC83-202A-FD2B-AEB4-6880F11AF4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90EE762-70C8-7730-1015-3D4F9AD3D5FF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777"/>
    </mc:Choice>
    <mc:Fallback xmlns="">
      <p:transition spd="slow" advTm="3977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Phase 3 — GPU Compute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Headless EGL context so compute runs without on-screen rendering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Compute shader — one invocation per output pixel, reads 3×3 neighbourhood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Texture-based input path for better cache behaviour than raw SSBO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Workgroup configurations benchmarked per device, fastest latched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Correctness verified against scalar with ±2 tolerance (float arithmetic)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Lesson: GPU is not automatically faster than SIMD for a small local filter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7 / 16</a:t>
            </a:r>
          </a:p>
        </p:txBody>
      </p:sp>
      <p:pic>
        <p:nvPicPr>
          <p:cNvPr id="25" name="Audio 24">
            <a:hlinkClick r:id="" action="ppaction://media"/>
            <a:extLst>
              <a:ext uri="{FF2B5EF4-FFF2-40B4-BE49-F238E27FC236}">
                <a16:creationId xmlns:a16="http://schemas.microsoft.com/office/drawing/2014/main" id="{1FF9B5EC-DC26-6FD1-B232-1FAA7A3C477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BB84D9-EDE4-A318-C6A6-E0A2C8D669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B65E6-7F78-6C5A-0A8F-2A379259D51C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3187"/>
    </mc:Choice>
    <mc:Fallback xmlns="">
      <p:transition spd="slow" advTm="431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>
                <a:solidFill>
                  <a:srgbClr val="E2E8F0"/>
                </a:solidFill>
              </a:defRPr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 Mode + Adaptive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3302655" cy="1997049"/>
          </a:xfrm>
          <a:prstGeom prst="rect">
            <a:avLst/>
          </a:prstGeom>
          <a:solidFill>
            <a:srgbClr val="3B82F6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E2E8F0"/>
                </a:solidFill>
              </a:defRPr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CPU  —  ARM NEON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top rows  ·  16 px / iter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14369"/>
            <a:ext cx="3302655" cy="2757831"/>
          </a:xfrm>
          <a:prstGeom prst="rect">
            <a:avLst/>
          </a:prstGeom>
          <a:solidFill>
            <a:srgbClr val="10B981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E2E8F0"/>
                </a:solidFill>
              </a:defRPr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GPU  —  Compute Shader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bottom rows  ·  concurrent dispatch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04843"/>
            <a:ext cx="3302655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Isosceles Triangle 9"/>
          <p:cNvSpPr/>
          <p:nvPr/>
        </p:nvSpPr>
        <p:spPr>
          <a:xfrm rot="16200000">
            <a:off x="3933591" y="3305023"/>
            <a:ext cx="237744" cy="237744"/>
          </a:xfrm>
          <a:prstGeom prst="triangl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43067" y="3233319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i="1">
                <a:solidFill>
                  <a:srgbClr val="F59E0B"/>
                </a:solidFill>
              </a:defRPr>
            </a:pPr>
            <a:r>
              <a:rPr kumimoji="0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g_hybridMidRow</a:t>
            </a:r>
            <a:endParaRPr kumimoji="0" sz="1200" b="0" i="1" u="none" strike="noStrike" kern="1200" cap="none" spc="0" normalizeH="0" baseline="0" noProof="0" dirty="0">
              <a:ln>
                <a:noFill/>
              </a:ln>
              <a:solidFill>
                <a:srgbClr val="F59E0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E2E8F0"/>
                </a:solidFill>
              </a:defRPr>
            </a:pPr>
            <a:r>
              <a:rPr kumimoji="0" sz="10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EMA-controlled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417320"/>
            <a:ext cx="6400800" cy="475488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80427" y="1750110"/>
            <a:ext cx="5212080" cy="3272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Frame split horizontally — CPU + GPU fire in parallel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CPU thread: NEON Sobel on top rows (16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px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/iter)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GPU shader: concurrent dispatch on bottom rows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EMA tracks per-row cost (α = 0.1, spiked α = 0.25)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Split rebalances each frame so both halves finish together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Clamped to 10–90% — prevents degenerate single-device splits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Thermal-aware: trims GPU share above 40.5 °C / 43 °C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Measured ~8.9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ms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@ 720p  ·  ~15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ms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@ 1080p  —  sync cost keeps it just behind NEON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Accelerated Mobile Video Processing  ·  COP7001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8 / 16</a:t>
            </a:r>
          </a:p>
        </p:txBody>
      </p:sp>
      <p:pic>
        <p:nvPicPr>
          <p:cNvPr id="17" name="Audio 16">
            <a:hlinkClick r:id="" action="ppaction://media"/>
            <a:extLst>
              <a:ext uri="{FF2B5EF4-FFF2-40B4-BE49-F238E27FC236}">
                <a16:creationId xmlns:a16="http://schemas.microsoft.com/office/drawing/2014/main" id="{2F8CBB03-5343-1EC8-8F34-E03E6D6EAD2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524839-CF56-016B-6F6B-715C2CE1CF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F708E86-7578-8C03-A3A6-1B60458CE758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72"/>
    </mc:Choice>
    <mc:Fallback xmlns="">
      <p:transition spd="slow" advTm="5017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Runtime Mode &amp; Resolution Switching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Mode switch affects the dispatcher only — camera stays up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Resolution switch is heavier — Camera2 has to rebuild the session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Careless switching caused stale callbacks and camera-session races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Guarded transitions: drop stale frames, reset measurement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9 / 16</a:t>
            </a:r>
          </a:p>
        </p:txBody>
      </p:sp>
      <p:pic>
        <p:nvPicPr>
          <p:cNvPr id="12" name="Audio 11">
            <a:hlinkClick r:id="" action="ppaction://media"/>
            <a:extLst>
              <a:ext uri="{FF2B5EF4-FFF2-40B4-BE49-F238E27FC236}">
                <a16:creationId xmlns:a16="http://schemas.microsoft.com/office/drawing/2014/main" id="{02C3372E-33F0-2B1A-61B1-011363A94BD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0721E5-ACAF-6E23-B30B-045795C23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6ECEBE-331B-BC82-9566-10E5944DA447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53"/>
    </mc:Choice>
    <mc:Fallback xmlns="">
      <p:transition spd="slow" advTm="2645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Live Performance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Mode  ·  FPS  ·  per-stage latency  ·  end-to-end latency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SIMD and GPU activity indicators light only when those paths run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Hybrid split ratio surfaced while hybrid mode is active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Speedup stabilised via per-mode averages + warm-up exclusion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Dashboard treated as a core deliverable, not an afterthought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10 / 16</a:t>
            </a:r>
          </a:p>
        </p:txBody>
      </p:sp>
      <p:pic>
        <p:nvPicPr>
          <p:cNvPr id="20" name="Audio 19">
            <a:hlinkClick r:id="" action="ppaction://media"/>
            <a:extLst>
              <a:ext uri="{FF2B5EF4-FFF2-40B4-BE49-F238E27FC236}">
                <a16:creationId xmlns:a16="http://schemas.microsoft.com/office/drawing/2014/main" id="{17407859-60F7-58F9-C39E-54686B30935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CFD957-54DC-8995-A400-4481FF1EB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3C7836C-ACA3-61B6-00AE-025BAB225FCF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79"/>
    </mc:Choice>
    <mc:Fallback xmlns="">
      <p:transition spd="slow" advTm="2697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316689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rPr lang="en-IN" dirty="0"/>
              <a:t>Testing &amp; Correctness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354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lang="en-IN" sz="2200" b="1" dirty="0">
                <a:solidFill>
                  <a:srgbClr val="F59E0B"/>
                </a:solidFill>
              </a:rPr>
              <a:t>●  </a:t>
            </a:r>
            <a:r>
              <a:rPr lang="en-IN" sz="2200" dirty="0">
                <a:solidFill>
                  <a:srgbClr val="E2E8F0"/>
                </a:solidFill>
              </a:rPr>
              <a:t>Every accelerated mode diffed per-pixel vs scalar on same input frame</a:t>
            </a:r>
          </a:p>
          <a:p>
            <a:pPr>
              <a:spcAft>
                <a:spcPts val="1000"/>
              </a:spcAft>
            </a:pPr>
            <a:r>
              <a:rPr lang="en-IN" sz="2200" b="1" dirty="0">
                <a:solidFill>
                  <a:srgbClr val="F59E0B"/>
                </a:solidFill>
              </a:rPr>
              <a:t>●  </a:t>
            </a:r>
            <a:r>
              <a:rPr lang="en-IN" sz="2200" dirty="0">
                <a:solidFill>
                  <a:srgbClr val="E2E8F0"/>
                </a:solidFill>
              </a:rPr>
              <a:t>Tolerances derived from arithmetic, not chosen arbitrarily:</a:t>
            </a:r>
          </a:p>
          <a:p>
            <a:pPr>
              <a:spcAft>
                <a:spcPts val="1000"/>
              </a:spcAft>
            </a:pPr>
            <a:r>
              <a:rPr lang="en-IN" sz="1700" dirty="0">
                <a:solidFill>
                  <a:srgbClr val="E2E8F0"/>
                </a:solidFill>
              </a:rPr>
              <a:t>        –  NEON ±1 — widen-accumulate-narrow introduces 1 LSB of rounding</a:t>
            </a:r>
          </a:p>
          <a:p>
            <a:pPr>
              <a:spcAft>
                <a:spcPts val="1000"/>
              </a:spcAft>
            </a:pPr>
            <a:r>
              <a:rPr lang="en-IN" sz="1700" dirty="0">
                <a:solidFill>
                  <a:srgbClr val="E2E8F0"/>
                </a:solidFill>
              </a:rPr>
              <a:t>        –  GPU ±2 — float round-trip adds 1 additional LSB on top of NEON</a:t>
            </a:r>
          </a:p>
          <a:p>
            <a:pPr>
              <a:spcAft>
                <a:spcPts val="1000"/>
              </a:spcAft>
            </a:pPr>
            <a:r>
              <a:rPr lang="en-IN" sz="2200" b="1" dirty="0">
                <a:solidFill>
                  <a:srgbClr val="F59E0B"/>
                </a:solidFill>
              </a:rPr>
              <a:t>●  </a:t>
            </a:r>
            <a:r>
              <a:rPr lang="en-IN" sz="2200" dirty="0">
                <a:solidFill>
                  <a:srgbClr val="E2E8F0"/>
                </a:solidFill>
              </a:rPr>
              <a:t>Verification runs once on mode switch (too expensive per-frame)</a:t>
            </a:r>
          </a:p>
          <a:p>
            <a:pPr>
              <a:spcAft>
                <a:spcPts val="1000"/>
              </a:spcAft>
            </a:pPr>
            <a:r>
              <a:rPr lang="en-IN" sz="2200" b="1" dirty="0">
                <a:solidFill>
                  <a:srgbClr val="F59E0B"/>
                </a:solidFill>
              </a:rPr>
              <a:t>●  </a:t>
            </a:r>
            <a:r>
              <a:rPr lang="en-IN" sz="2200" dirty="0">
                <a:solidFill>
                  <a:srgbClr val="E2E8F0"/>
                </a:solidFill>
              </a:rPr>
              <a:t>Rule: if verification fails, speedup is not reported — fix the mode first</a:t>
            </a:r>
          </a:p>
          <a:p>
            <a:pPr>
              <a:spcAft>
                <a:spcPts val="1000"/>
              </a:spcAft>
            </a:pPr>
            <a:r>
              <a:rPr lang="en-IN" sz="2200" b="1" dirty="0">
                <a:solidFill>
                  <a:srgbClr val="F59E0B"/>
                </a:solidFill>
              </a:rPr>
              <a:t>●  </a:t>
            </a:r>
            <a:r>
              <a:rPr lang="en-IN" sz="2200" dirty="0">
                <a:solidFill>
                  <a:srgbClr val="E2E8F0"/>
                </a:solidFill>
              </a:rPr>
              <a:t>Tested on physical device across 720p and 1080p resolutions</a:t>
            </a:r>
          </a:p>
          <a:p>
            <a:pPr>
              <a:spcAft>
                <a:spcPts val="1000"/>
              </a:spcAft>
            </a:pPr>
            <a:r>
              <a:rPr lang="en-IN" sz="2200" b="1" dirty="0">
                <a:solidFill>
                  <a:srgbClr val="F59E0B"/>
                </a:solidFill>
              </a:rPr>
              <a:t>●  </a:t>
            </a:r>
            <a:r>
              <a:rPr lang="en-IN" sz="2200" dirty="0">
                <a:solidFill>
                  <a:srgbClr val="E2E8F0"/>
                </a:solidFill>
              </a:rPr>
              <a:t>Mode switching stress-tested: rapid toggling under sustained camera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11 / 16</a:t>
            </a:r>
          </a:p>
        </p:txBody>
      </p:sp>
      <p:pic>
        <p:nvPicPr>
          <p:cNvPr id="19" name="Audio 18">
            <a:hlinkClick r:id="" action="ppaction://media"/>
            <a:extLst>
              <a:ext uri="{FF2B5EF4-FFF2-40B4-BE49-F238E27FC236}">
                <a16:creationId xmlns:a16="http://schemas.microsoft.com/office/drawing/2014/main" id="{E5A7B86C-6B44-DC5E-CFD9-106DDC4B4E5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0777032-1DED-8293-B103-D23FE6C66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C54D6B1-011E-7DD6-03F1-1E7F6D57FB2B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743"/>
    </mc:Choice>
    <mc:Fallback xmlns="">
      <p:transition spd="slow" advTm="2374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Results  ·  Quantitative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59E0B"/>
                          </a:solidFill>
                        </a:rPr>
                        <a:t>Mode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59E0B"/>
                          </a:solidFill>
                        </a:rPr>
                        <a:t>720p Sobel (ms)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59E0B"/>
                          </a:solidFill>
                        </a:rPr>
                        <a:t>1080p Sobel (ms)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59E0B"/>
                          </a:solidFill>
                        </a:rPr>
                        <a:t>720p FPS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59E0B"/>
                          </a:solidFill>
                        </a:rPr>
                        <a:t>1080p FPS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2E8F0"/>
                          </a:solidFill>
                        </a:rPr>
                        <a:t>Scalar Baseline</a:t>
                      </a:r>
                    </a:p>
                  </a:txBody>
                  <a:tcPr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~41.8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~92.5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~18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2E8F0"/>
                          </a:solidFill>
                        </a:rPr>
                        <a:t>SIMD (NEON)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~6.9</a:t>
                      </a:r>
                      <a:r>
                        <a:rPr sz="1100" i="1">
                          <a:solidFill>
                            <a:srgbClr val="E2E8F0"/>
                          </a:solidFill>
                        </a:rPr>
                        <a:t>   ~6.0×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~13.7</a:t>
                      </a:r>
                      <a:r>
                        <a:rPr sz="1100" i="1">
                          <a:solidFill>
                            <a:srgbClr val="E2E8F0"/>
                          </a:solidFill>
                        </a:rPr>
                        <a:t>   ~6.8×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~30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~24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2E8F0"/>
                          </a:solidFill>
                        </a:rPr>
                        <a:t>GPU Compute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~7.7</a:t>
                      </a:r>
                      <a:r>
                        <a:rPr sz="1100" i="1">
                          <a:solidFill>
                            <a:srgbClr val="E2E8F0"/>
                          </a:solidFill>
                        </a:rPr>
                        <a:t>   ~5.4×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~14.7</a:t>
                      </a:r>
                      <a:r>
                        <a:rPr sz="1100" i="1">
                          <a:solidFill>
                            <a:srgbClr val="E2E8F0"/>
                          </a:solidFill>
                        </a:rPr>
                        <a:t>   ~6.3×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~30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~24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2E8F0"/>
                          </a:solidFill>
                        </a:rPr>
                        <a:t>Hybrid NEON+GPU</a:t>
                      </a:r>
                    </a:p>
                  </a:txBody>
                  <a:tcPr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~8.9</a:t>
                      </a:r>
                      <a:r>
                        <a:rPr sz="1100" i="1">
                          <a:solidFill>
                            <a:srgbClr val="E2E8F0"/>
                          </a:solidFill>
                        </a:rPr>
                        <a:t>   ~4.7×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~15.0</a:t>
                      </a:r>
                      <a:r>
                        <a:rPr sz="1100" i="1">
                          <a:solidFill>
                            <a:srgbClr val="E2E8F0"/>
                          </a:solidFill>
                        </a:rPr>
                        <a:t>   ~6.2×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~30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E2E8F0"/>
                          </a:solidFill>
                        </a:rPr>
                        <a:t>~23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12 / 16</a:t>
            </a:r>
          </a:p>
        </p:txBody>
      </p:sp>
      <p:pic>
        <p:nvPicPr>
          <p:cNvPr id="35" name="Audio 34">
            <a:hlinkClick r:id="" action="ppaction://media"/>
            <a:extLst>
              <a:ext uri="{FF2B5EF4-FFF2-40B4-BE49-F238E27FC236}">
                <a16:creationId xmlns:a16="http://schemas.microsoft.com/office/drawing/2014/main" id="{01A104DD-97AA-C9CF-7BB0-A92761FB787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95F78-349F-C4B4-2511-019026DF5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1A691DC-6FA8-69F9-C116-469F083EA801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78"/>
    </mc:Choice>
    <mc:Fallback xmlns="">
      <p:transition spd="slow" advTm="3447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489518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>
                <a:solidFill>
                  <a:srgbClr val="E2E8F0"/>
                </a:solidFill>
              </a:defRPr>
            </a:pPr>
            <a:r>
              <a:rPr kumimoji="0" sz="2600" b="1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Application Output  ·  </a:t>
            </a:r>
            <a:r>
              <a:rPr kumimoji="0" lang="en-IN" sz="2600" b="1" i="0" u="none" strike="noStrike" kern="120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Screenshots</a:t>
            </a:r>
            <a:endParaRPr kumimoji="0" sz="2600" b="1" i="0" u="none" strike="noStrike" kern="1200" cap="none" spc="0" normalizeH="0" baseline="0" noProof="0" dirty="0">
              <a:ln>
                <a:noFill/>
              </a:ln>
              <a:solidFill>
                <a:srgbClr val="E2E8F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7802" y="1101852"/>
            <a:ext cx="2659323" cy="5312664"/>
          </a:xfrm>
          <a:prstGeom prst="round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7801" y="1133856"/>
            <a:ext cx="26593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F59E0B"/>
                </a:solidFill>
              </a:defRPr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Baseline (Scalar)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Accelerated Mobile Video Processing  ·  COP7001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13 / 18</a:t>
            </a:r>
          </a:p>
        </p:txBody>
      </p:sp>
      <p:sp>
        <p:nvSpPr>
          <p:cNvPr id="17" name="Rounded Rectangle 6">
            <a:extLst>
              <a:ext uri="{FF2B5EF4-FFF2-40B4-BE49-F238E27FC236}">
                <a16:creationId xmlns:a16="http://schemas.microsoft.com/office/drawing/2014/main" id="{27CA0C19-50DD-26D6-A9A7-7B60D352EE02}"/>
              </a:ext>
            </a:extLst>
          </p:cNvPr>
          <p:cNvSpPr/>
          <p:nvPr/>
        </p:nvSpPr>
        <p:spPr>
          <a:xfrm>
            <a:off x="3179952" y="1090422"/>
            <a:ext cx="2659322" cy="5312664"/>
          </a:xfrm>
          <a:prstGeom prst="round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EB2A0D-C40E-0175-A339-5B8FB57D93CA}"/>
              </a:ext>
            </a:extLst>
          </p:cNvPr>
          <p:cNvSpPr txBox="1"/>
          <p:nvPr/>
        </p:nvSpPr>
        <p:spPr>
          <a:xfrm>
            <a:off x="3022635" y="1129284"/>
            <a:ext cx="29978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F59E0B"/>
                </a:solidFill>
              </a:defRPr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Neon SIMD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F59E0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6EBD133C-78C4-6FA9-2785-6ADAA192FC8F}"/>
              </a:ext>
            </a:extLst>
          </p:cNvPr>
          <p:cNvSpPr/>
          <p:nvPr/>
        </p:nvSpPr>
        <p:spPr>
          <a:xfrm>
            <a:off x="6262413" y="1120140"/>
            <a:ext cx="2659323" cy="5312664"/>
          </a:xfrm>
          <a:prstGeom prst="round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4D0CF-2A38-5FAF-D01B-FB4F2C6DC914}"/>
              </a:ext>
            </a:extLst>
          </p:cNvPr>
          <p:cNvSpPr txBox="1"/>
          <p:nvPr/>
        </p:nvSpPr>
        <p:spPr>
          <a:xfrm>
            <a:off x="6262412" y="1152144"/>
            <a:ext cx="2659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F59E0B"/>
                </a:solidFill>
              </a:defRPr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GPU </a:t>
            </a:r>
            <a:endParaRPr kumimoji="0" sz="1800" b="1" i="0" u="none" strike="noStrike" kern="1200" cap="none" spc="0" normalizeH="0" baseline="0" noProof="0" dirty="0">
              <a:ln>
                <a:noFill/>
              </a:ln>
              <a:solidFill>
                <a:srgbClr val="F59E0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ounded Rectangle 6">
            <a:extLst>
              <a:ext uri="{FF2B5EF4-FFF2-40B4-BE49-F238E27FC236}">
                <a16:creationId xmlns:a16="http://schemas.microsoft.com/office/drawing/2014/main" id="{E62053CF-4DBE-7EBD-A62F-EB14EE8FB63D}"/>
              </a:ext>
            </a:extLst>
          </p:cNvPr>
          <p:cNvSpPr/>
          <p:nvPr/>
        </p:nvSpPr>
        <p:spPr>
          <a:xfrm>
            <a:off x="9344876" y="1058418"/>
            <a:ext cx="2659322" cy="5312664"/>
          </a:xfrm>
          <a:prstGeom prst="round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E5CE9D-C787-4C1F-3847-3FF513EA0738}"/>
              </a:ext>
            </a:extLst>
          </p:cNvPr>
          <p:cNvSpPr txBox="1"/>
          <p:nvPr/>
        </p:nvSpPr>
        <p:spPr>
          <a:xfrm>
            <a:off x="9254562" y="1106432"/>
            <a:ext cx="299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>
                <a:solidFill>
                  <a:srgbClr val="F59E0B"/>
                </a:solidFill>
              </a:defRPr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</a:t>
            </a:r>
            <a:endParaRPr kumimoji="0" sz="1800" b="1" i="0" u="none" strike="noStrike" kern="1200" cap="none" spc="0" normalizeH="0" baseline="0" noProof="0" dirty="0">
              <a:ln>
                <a:noFill/>
              </a:ln>
              <a:solidFill>
                <a:srgbClr val="F59E0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EAB388C-1353-1EAA-DC8F-BF596B7129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62" y="1504413"/>
            <a:ext cx="2141973" cy="475993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EFAA7E3-CFD1-0C9D-5671-6D31F6FC1B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019" y="1522712"/>
            <a:ext cx="2134111" cy="47424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A35FA10-16D9-B962-C96B-0784976DB0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9072" y="1522712"/>
            <a:ext cx="2096159" cy="465813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D1445DD-76B6-8021-9BBB-8A80984CA3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5659" y="1475764"/>
            <a:ext cx="2138413" cy="4752028"/>
          </a:xfrm>
          <a:prstGeom prst="rect">
            <a:avLst/>
          </a:prstGeom>
        </p:spPr>
      </p:pic>
      <p:pic>
        <p:nvPicPr>
          <p:cNvPr id="23" name="Audio 22">
            <a:hlinkClick r:id="" action="ppaction://media"/>
            <a:extLst>
              <a:ext uri="{FF2B5EF4-FFF2-40B4-BE49-F238E27FC236}">
                <a16:creationId xmlns:a16="http://schemas.microsoft.com/office/drawing/2014/main" id="{3CEAA7CB-8219-E77B-8071-B6B19AEB9B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80"/>
    </mc:Choice>
    <mc:Fallback>
      <p:transition spd="slow" advTm="348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Results  ·  Latency &amp; Frame Stability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720p  ·  baseline ~18 FPS  ·  SIMD / GPU / Hybrid reach ~30 FPS (camera cap)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1080p  ·  baseline drops to ~8 FPS  ·  accelerated modes stay interactive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Baseline: Sobel dominates frame time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GPU: upload + readback dominate total latency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SIMD is the fastest pure-Sobel path on the tested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13 / 16</a:t>
            </a:r>
          </a:p>
        </p:txBody>
      </p:sp>
      <p:pic>
        <p:nvPicPr>
          <p:cNvPr id="12" name="Audio 11">
            <a:hlinkClick r:id="" action="ppaction://media"/>
            <a:extLst>
              <a:ext uri="{FF2B5EF4-FFF2-40B4-BE49-F238E27FC236}">
                <a16:creationId xmlns:a16="http://schemas.microsoft.com/office/drawing/2014/main" id="{09248D82-BC9D-C54B-FCD7-33B6C571621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C3AEA8-76A7-7029-5A62-857724330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AE5161D-C802-CE50-0381-A5928E0BB951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855"/>
    </mc:Choice>
    <mc:Fallback xmlns="">
      <p:transition spd="slow" advTm="3285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SIMD &amp; GPU Utilization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SIMD indicator lit in NEON and hybrid modes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GPU indicator lit in GPU and hybrid modes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Hybrid: both indicators lit with a live split ratio on the dashboard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For a small local filter like Sobel, GPU ≠ automatically faster than SIMD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14 / 16</a:t>
            </a:r>
          </a:p>
        </p:txBody>
      </p:sp>
      <p:pic>
        <p:nvPicPr>
          <p:cNvPr id="12" name="Audio 11">
            <a:hlinkClick r:id="" action="ppaction://media"/>
            <a:extLst>
              <a:ext uri="{FF2B5EF4-FFF2-40B4-BE49-F238E27FC236}">
                <a16:creationId xmlns:a16="http://schemas.microsoft.com/office/drawing/2014/main" id="{5A1D26D7-5892-9D48-E6D0-9625B004BD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EF77C2-47DB-2D98-2BD9-160814340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15016BF-A775-47C9-6841-EC3D7EA91E0E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971"/>
    </mc:Choice>
    <mc:Fallback xmlns="">
      <p:transition spd="slow" advTm="2497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E2E8F0"/>
                </a:solidFill>
              </a:defRPr>
            </a:pPr>
            <a:r>
              <a:t>Engineering Lessons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120140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984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Multiple compute units (scalar, SIMD, GPU) can meaningfully cooperate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Acceleration must be evaluated in system context, not in isolation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Correctness against the scalar baseline is non-negotiable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Hybrid heterogeneous execution is practical, not just a theoretical idea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F59E0B"/>
                </a:solidFill>
              </a:rPr>
              <a:t>●  </a:t>
            </a:r>
            <a:r>
              <a:rPr sz="2200">
                <a:solidFill>
                  <a:srgbClr val="E2E8F0"/>
                </a:solidFill>
              </a:rPr>
              <a:t>Observability is what makes the performance story honest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t>Accelerated Mobile Video Processing  ·  COP7001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15 / 16</a:t>
            </a:r>
          </a:p>
        </p:txBody>
      </p:sp>
      <p:pic>
        <p:nvPicPr>
          <p:cNvPr id="12" name="Audio 11">
            <a:hlinkClick r:id="" action="ppaction://media"/>
            <a:extLst>
              <a:ext uri="{FF2B5EF4-FFF2-40B4-BE49-F238E27FC236}">
                <a16:creationId xmlns:a16="http://schemas.microsoft.com/office/drawing/2014/main" id="{5B21CCF1-92F4-3639-BCF3-5741FCD6AFF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7E953A-748F-28B4-81C6-A46D8DBEB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0420" y="43215"/>
            <a:ext cx="781372" cy="7523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242C1E-1788-86A2-30F2-6EDD9D838A5B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431"/>
    </mc:Choice>
    <mc:Fallback xmlns="">
      <p:transition spd="slow" advTm="3243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>
                <a:solidFill>
                  <a:srgbClr val="E2E8F0"/>
                </a:solidFill>
              </a:defRPr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 Usage Disclosure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544068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37260" y="1383030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AI Was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Tools used: ChatGPT, Gemini — treated as collaborative assistants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NEON path (well-understood):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Debugging, compiler-error clarification, static analysis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GPU &amp; hybrid paths (less prior experience):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Boilerplate: EGL setup, shader compilation, buffer management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We provided high-level design; AI translated to GLSL / C++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Focus stayed on system-level integration and adaptive balancing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440680" cy="507492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20840" y="1383030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Our Own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7492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Core system architecture — designed entirely by us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SIMD acceleration strategy — our background in CPU-level optimisation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GPU integration approach — we set the design, AI helped with API mechanics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 split concept — our original idea: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Horizontal frame split, concurrent CPU+GPU dispatch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Adaptive split ratio from measured per-row throughput so both sides finish together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–  AI did not suggest or contribute to the hybrid strategy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●  </a:t>
            </a: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30-minute final stability run — joint effort by both team members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Accelerated Mobile Video Processing  ·  COP7001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 / 2</a:t>
            </a:r>
          </a:p>
        </p:txBody>
      </p:sp>
      <p:pic>
        <p:nvPicPr>
          <p:cNvPr id="29" name="Audio 28">
            <a:hlinkClick r:id="" action="ppaction://media"/>
            <a:extLst>
              <a:ext uri="{FF2B5EF4-FFF2-40B4-BE49-F238E27FC236}">
                <a16:creationId xmlns:a16="http://schemas.microsoft.com/office/drawing/2014/main" id="{8F41B7D0-025B-0F1E-4EA9-0141C84544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5519"/>
    </mc:Choice>
    <mc:Fallback>
      <p:transition spd="slow" advTm="255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9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228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09728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01168"/>
            <a:ext cx="1143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600" b="1">
                <a:solidFill>
                  <a:srgbClr val="E2E8F0"/>
                </a:solidFill>
              </a:defRPr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Team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91440" cy="11155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170432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3B82F6"/>
                </a:solidFill>
              </a:defRPr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B82F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Phase 1 — Baseline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1490472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Nitish — Android project, NDK toolchain,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Camera2 integration, YUV→RGBA conversion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463040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92240" y="1490472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Salil — Scalar Sobel filter, SurfaceView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rendering, initial live dashboard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68296"/>
            <a:ext cx="91440" cy="11155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10B981"/>
                </a:solidFill>
              </a:defRPr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Phase 2 — SIMD Acceleration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688336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2715768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Nitish — NEON warm-up experiment,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NEON-vectorized Sobel (16 px/iter)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688336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92240" y="2715768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Salil — Correctness verification framework,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mode-switching UI, SIMD dashboard indicators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593592"/>
            <a:ext cx="91440" cy="11155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" y="3621024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A855F7"/>
                </a:solidFill>
              </a:defRPr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A855F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Phase 3 — GPU &amp; Hybrid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13632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" y="3941064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Nitish — Headless EGL context, compute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shader, hybrid frame-split logic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3913632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92240" y="3941064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Salil — GPU correctness verification,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stress testing, GPU/hybrid dashboard indicators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18888"/>
            <a:ext cx="91440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F59E0B"/>
                </a:solidFill>
              </a:defRPr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Phase 4 — Optimization &amp; Finalization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138928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68680" y="5166360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Nitish — Latency profiling, memory/buffer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optimisation, NEON cache tuning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5138928"/>
            <a:ext cx="5349240" cy="749808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92240" y="5166360"/>
            <a:ext cx="5074920" cy="72237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>
                <a:solidFill>
                  <a:srgbClr val="E2E8F0"/>
                </a:solidFill>
              </a:defRPr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Salil — Workgroup-size experiments, texture</a:t>
            </a:r>
            <a:b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access, dynamic split ratio, dashboard layout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089904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Joint: </a:t>
            </a: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30-minute final stability run and integration testing done together on a physical device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Accelerated Mobile Video Processing  ·  COP7001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E2E8F0"/>
                </a:solidFill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 / 2</a:t>
            </a:r>
          </a:p>
        </p:txBody>
      </p:sp>
      <p:pic>
        <p:nvPicPr>
          <p:cNvPr id="45" name="Audio 44">
            <a:hlinkClick r:id="" action="ppaction://media"/>
            <a:extLst>
              <a:ext uri="{FF2B5EF4-FFF2-40B4-BE49-F238E27FC236}">
                <a16:creationId xmlns:a16="http://schemas.microsoft.com/office/drawing/2014/main" id="{4913F1C7-DBD6-9284-C443-7319B171C33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988"/>
    </mc:Choice>
    <mc:Fallback>
      <p:transition spd="slow" advTm="2098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5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560320"/>
            <a:ext cx="1178021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E2E8F0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9224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2E8F0"/>
                </a:solidFill>
              </a:defRPr>
            </a:pPr>
            <a:r>
              <a:rPr dirty="0"/>
              <a:t>Accelerated Mobile Video Processing  ·  COP7001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E2E8F0"/>
                </a:solidFill>
              </a:defRPr>
            </a:pPr>
            <a:r>
              <a:t>16 / 16</a:t>
            </a:r>
          </a:p>
        </p:txBody>
      </p:sp>
      <p:pic>
        <p:nvPicPr>
          <p:cNvPr id="35" name="Audio 34">
            <a:hlinkClick r:id="" action="ppaction://media"/>
            <a:extLst>
              <a:ext uri="{FF2B5EF4-FFF2-40B4-BE49-F238E27FC236}">
                <a16:creationId xmlns:a16="http://schemas.microsoft.com/office/drawing/2014/main" id="{CF490F81-4364-BC28-5D6F-3945171CC62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161075" t="-161075" r="-161075" b="-16107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B10F69-EFC1-EF6C-3279-47EA1FFD7D73}"/>
              </a:ext>
            </a:extLst>
          </p:cNvPr>
          <p:cNvSpPr txBox="1"/>
          <p:nvPr/>
        </p:nvSpPr>
        <p:spPr>
          <a:xfrm>
            <a:off x="5756409" y="6533942"/>
            <a:ext cx="69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IIT Delhi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87"/>
    </mc:Choice>
    <mc:Fallback xmlns="">
      <p:transition spd="slow" advTm="29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5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1485</Words>
  <Application>Microsoft Office PowerPoint</Application>
  <PresentationFormat>Widescreen</PresentationFormat>
  <Paragraphs>207</Paragraphs>
  <Slides>19</Slides>
  <Notes>0</Notes>
  <HiddenSlides>0</HiddenSlides>
  <MMClips>19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salil gujar</dc:creator>
  <cp:keywords/>
  <dc:description>generated using python-pptx</dc:description>
  <cp:lastModifiedBy>Salil Sanjay Gujar</cp:lastModifiedBy>
  <cp:revision>10</cp:revision>
  <dcterms:created xsi:type="dcterms:W3CDTF">2013-01-27T09:14:16Z</dcterms:created>
  <dcterms:modified xsi:type="dcterms:W3CDTF">2026-04-22T13:53:50Z</dcterms:modified>
  <cp:category/>
</cp:coreProperties>
</file>